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0a8fc3b05949f8" /><Relationship Type="http://schemas.openxmlformats.org/officeDocument/2006/relationships/extended-properties" Target="/docProps/app.xml" Id="R7d76fcb677ef4c81" /><Relationship Type="http://schemas.openxmlformats.org/officeDocument/2006/relationships/officeDocument" Target="/ppt/presentation.xml" Id="Rd6e0c9142be649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797c627cc84534"/>
  </p:sldMasterIdLst>
  <p:notesMasterIdLst>
    <p:notesMasterId xmlns:r="http://schemas.openxmlformats.org/officeDocument/2006/relationships" r:id="R0f628ab8f1144a40"/>
  </p:notesMasterIdLst>
  <p:sldIdLst>
    <p:sldId xmlns:r="http://schemas.openxmlformats.org/officeDocument/2006/relationships" id="256" r:id="R6aebf3d168f341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772ffe15a54c7f" /><Relationship Type="http://schemas.openxmlformats.org/officeDocument/2006/relationships/slideMaster" Target="/ppt/slideMasters/slideMaster1.xml" Id="R75797c627cc84534" /><Relationship Type="http://schemas.openxmlformats.org/officeDocument/2006/relationships/notesMaster" Target="/ppt/notesMasters/notesMaster1.xml" Id="R0f628ab8f1144a40" /><Relationship Type="http://schemas.openxmlformats.org/officeDocument/2006/relationships/presProps" Target="/ppt/presProps.xml" Id="R2d434379b3f54f1c" /><Relationship Type="http://schemas.openxmlformats.org/officeDocument/2006/relationships/tableStyles" Target="/ppt/tableStyles.xml" Id="R7f0c04fe8ba74c07" /><Relationship Type="http://schemas.openxmlformats.org/officeDocument/2006/relationships/slide" Target="/ppt/slides/slide1.xml" Id="R6aebf3d168f341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dfd5fb1fcd49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342915f3934a4c" /><Relationship Type="http://schemas.openxmlformats.org/officeDocument/2006/relationships/notesMaster" Target="/ppt/notesMasters/notesMaster1.xml" Id="R5bd19a965c5149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/Users/jiayiwang/TUM/MA/kuavo_learning_studio/kuavo_deploy/kuavo_env/KuavoBaseRosEnv.py</a:t>
            </a:r>
          </a:p>
          <a:p xmlns:a="http://schemas.openxmlformats.org/drawingml/2006/main">
            <a:r>
              <a:t>/Users/jiayiwang/TUM/MA/kuavo_learning_studio/kuavo_model/external_models/lingbot-vla/lingbotvla/data/vla_data/utils.py</a:t>
            </a:r>
          </a:p>
          <a:p xmlns:a="http://schemas.openxmlformats.org/drawingml/2006/main">
            <a:r>
              <a:t>/Users/jiayiwang/TUM/MA/kuavo-ros-opensource/src/kuavo_humanoid_sdk/kuavo_humanoid_sdk/kuavo/robot.py</a:t>
            </a:r>
          </a:p>
          <a:p xmlns:a="http://schemas.openxmlformats.org/drawingml/2006/main">
            <a:r>
              <a:t>/Users/jiayiwang/TUM/MA/kuavo-ros-opensource/src/kuavo_humanoid_sdk/kuavo_humanoid_sdk/kuavo/core/core.py</a:t>
            </a:r>
          </a:p>
          <a:p xmlns:a="http://schemas.openxmlformats.org/drawingml/2006/main">
            <a:r>
              <a:t>/Users/jiayiwang/TUM/MA/kuavo-ros-opensource/src/kuavo_humanoid_sdk/kuavo_humanoid_sdk/kuavo/core/ros/control.py</a:t>
            </a:r>
          </a:p>
          <a:p xmlns:a="http://schemas.openxmlformats.org/drawingml/2006/main">
            <a:r>
              <a:t>/Users/jiayiwang/TUM/MA/kuavo-ros-opensource/src/humanoid-control/humanoid_controllers/src/humanoidController.cpp</a:t>
            </a:r>
          </a:p>
          <a:p xmlns:a="http://schemas.openxmlformats.org/drawingml/2006/main">
            <a:r>
              <a:t>/Users/jiayiwang/TUM/MA/kuavo-ros-opensource/src/humanoid-control/humanoid_controllers/launch/load_kuavo_real.launch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91bdb63494e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221752ca164b21" /><Relationship Type="http://schemas.openxmlformats.org/officeDocument/2006/relationships/slideLayout" Target="/ppt/slideLayouts/slideLayout1.xml" Id="Rbdaebc699c4e4f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ebc699c4e4f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3f3510a7b4c54" /><Relationship Type="http://schemas.openxmlformats.org/officeDocument/2006/relationships/notesSlide" Target="/ppt/notesSlides/notesSlide1.xml" Id="R11d4ee8f597444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9CCFA87-2E62-4F81-AA3A-F12C6B48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3213A"/>
                </a:solidFill>
                <a:latin typeface="Hiragino Sans GB"/>
                <a:ea typeface="Hiragino Sans GB"/>
                <a:cs typeface="Hiragino Sans GB"/>
              </a:rPr>
              <a:t>LingBot-VLA 到 Kuavo v42 真机的执行链路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E387E-BB79-4A3F-A3D0-36032B03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6738A"/>
                </a:solidFill>
                <a:latin typeface="Hiragino Sans GB"/>
                <a:ea typeface="Hiragino Sans GB"/>
                <a:cs typeface="Hiragino Sans GB"/>
              </a:rPr>
              <a:t>kuavo_learning_studio  ×  kuavo-ros-opensource 1.3.3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081AF-66FD-452D-978E-F8D0D302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2628900" cy="5010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2DE7A-1ED2-4440-A67F-2D168E11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24003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2864B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CAA7F-7F7F-46C1-B639-8CEC466F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VLA /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2CEA8-FD3F-454C-875A-CCADBC42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AF1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EAF1FF"/>
                </a:solidFill>
                <a:latin typeface="Hiragino Sans GB"/>
                <a:ea typeface="Hiragino Sans GB"/>
                <a:cs typeface="Hiragino Sans GB"/>
              </a:rPr>
              <a:t>kuavo_learning_studio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9051D-5554-450E-A4E8-79A1CC2F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066800"/>
            <a:ext cx="2628900" cy="5010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BF9F5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F5934-B66D-4CEC-AC3F-34FE55DB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00150"/>
            <a:ext cx="24003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1681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703C2-8906-40A0-9CAE-1FBAA705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Kuavo SDK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F901D-09DE-469F-9BAA-B0D4603F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240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AF1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EAF1FF"/>
                </a:solidFill>
                <a:latin typeface="Hiragino Sans GB"/>
                <a:ea typeface="Hiragino Sans GB"/>
                <a:cs typeface="Hiragino Sans GB"/>
              </a:rPr>
              <a:t>kuavo_humanoid_sdk 1.3.3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DD130-23A5-417B-A8D3-4C412675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66800"/>
            <a:ext cx="3143250" cy="50101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91821-C395-4426-A2E0-F542709F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00150"/>
            <a:ext cx="29146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C66A1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A35C9-23BF-4A23-94D7-8F44B336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573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ROS Controller / WBC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AB66D-255A-477B-841D-B42EE7FC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400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AF1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EAF1FF"/>
                </a:solidFill>
                <a:latin typeface="Hiragino Sans GB"/>
                <a:ea typeface="Hiragino Sans GB"/>
                <a:cs typeface="Hiragino Sans GB"/>
              </a:rPr>
              <a:t>humanoidController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8BF85-50DF-4C14-BB91-E8917E4D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66800"/>
            <a:ext cx="2190750" cy="50101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2F0F8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A6C74-4B32-4698-BBB2-8ADB236C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00150"/>
            <a:ext cx="19621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6654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7647C-C204-412E-9D4C-1E825E84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2573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Hardware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B807B-958F-4561-A56D-F6288701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5240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AF1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EAF1FF"/>
                </a:solidFill>
                <a:latin typeface="Hiragino Sans GB"/>
                <a:ea typeface="Hiragino Sans GB"/>
                <a:cs typeface="Hiragino Sans GB"/>
              </a:rPr>
              <a:t>真机执行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294E3-6184-4004-AFC6-5ECF0F6F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2860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64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475445-0A0F-472B-8BFB-F7ED3C91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2057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LingBot-VLA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DA65D-2EBB-49D8-BB04-C00840BE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431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模型输出 action 16D</a:t>
            </a:r>
          </a:p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[L q7, L hand, R q7, R hand]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4D86AF-7E56-4536-9011-D9EE5DC2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2286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64B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91D647-1A87-4F8F-ADF9-B548893B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2057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4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FeatureTransform.unapply()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F4DE60-F44D-4498-93DC-528E5BE3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48050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09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反归一化</a:t>
            </a:r>
          </a:p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arm delta + current state</a:t>
            </a:r>
          </a:p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得到 absolute q，单位 rad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812903-88EC-41BD-8012-7CCFBD21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2286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64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8437BD-5C75-4D7D-BE2F-0454A67C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2057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86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KuavoBaseRosEnv.exec_action()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FB3620-E900-4039-B22E-26E72F64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19625"/>
            <a:ext cx="2038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拆出 q14 与 gripper2</a:t>
            </a:r>
          </a:p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q14 交给 Kuavo SDK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072219-3D9E-4587-8722-7424D853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828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19050">
            <a:solidFill>
              <a:srgbClr val="7B8DA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015D36-91E7-48EE-B73C-B7B87720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768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_control_eef()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左右手独立执行链</a:t>
            </a:r>
          </a:p>
        </p:txBody>
      </p:sp>
      <p:cxnSp>
        <p:nvCxnSpPr>
          <p:cNvPr id="107" name=""/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771650" y="28670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med" len="med"/>
          </a:ln>
        </p:spPr>
      </p:cxnSp>
      <p:cxnSp>
        <p:nvCxnSpPr>
          <p:cNvPr id="108" name=""/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771650" y="4038600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med" len="med"/>
          </a:ln>
        </p:spPr>
      </p:cxnSp>
      <p:cxnSp>
        <p:nvCxnSpPr>
          <p:cNvPr id="109" name=""/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1771650" y="517207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8A97AA"/>
            </a:solidFill>
            <a:prstDash val="solid"/>
            <a:headEnd type="triangle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FF7E84-3FCF-4DF4-BFC2-865A503B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0250"/>
            <a:ext cx="2286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16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E4424D-2381-48A1-9EAF-C5B90AFD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66925"/>
            <a:ext cx="2057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KuavoRobot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7DA613-85BA-4965-BFF0-43D56606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43150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2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control_arm_joint_positions(q14)</a:t>
            </a:r>
          </a:p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14 DoF 校验与 joint-limit clipping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8A2C9A-5351-4F31-BC29-4E8ADDE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81350"/>
            <a:ext cx="2286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1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DCDE12-DE4A-4D99-B219-497F7ADE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48025"/>
            <a:ext cx="2057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KuavoRobotCore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371A96-2249-4C1E-A30B-D202D29E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24250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碰撞保护</a:t>
            </a:r>
          </a:p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切换 ExternalControl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44AB68-DE5B-494C-8D0E-4C853B73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62450"/>
            <a:ext cx="2286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16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F16F4C-1187-4C01-9478-B9FD1703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29125"/>
            <a:ext cx="2057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ControlRobotArm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8C4FAA-3BBA-4EFF-A46C-C7BC15A2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705350"/>
            <a:ext cx="2038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pub_control_robot_arm_traj()</a:t>
            </a:r>
          </a:p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rad 转 degree</a:t>
            </a:r>
          </a:p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构造 sensor_msgs/JointState</a:t>
            </a:r>
          </a:p>
        </p:txBody>
      </p:sp>
      <p:cxnSp>
        <p:nvCxnSpPr>
          <p:cNvPr id="119" name=""/>
          <p:cNvCxnSpPr>
            <a:stCxn xmlns:a="http://schemas.openxmlformats.org/drawingml/2006/main" id="33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4629150" y="29337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med" len="med"/>
          </a:ln>
        </p:spPr>
      </p:cxnSp>
      <p:cxnSp>
        <p:nvCxnSpPr>
          <p:cNvPr id="120" name=""/>
          <p:cNvCxnSpPr>
            <a:stCxn xmlns:a="http://schemas.openxmlformats.org/drawingml/2006/main" id="36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4629150" y="41148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med" len="med"/>
          </a:ln>
        </p:spPr>
      </p:cxnSp>
      <p:cxnSp>
        <p:nvCxnSpPr>
          <p:cNvPr id="121" name=""/>
          <p:cNvCxnSpPr>
            <a:stCxn xmlns:a="http://schemas.openxmlformats.org/drawingml/2006/main" id="25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2914650" y="2466975"/>
            <a:ext cx="571500" cy="2257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864B4"/>
            </a:solidFill>
            <a:prstDash val="solid"/>
            <a:headEnd type="triangle" w="med" len="me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4D09C8-B1A8-4EEF-8F91-804CF148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26860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9050">
            <a:solidFill>
              <a:srgbClr val="C66A1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8167FE-EA23-473F-B69A-52BAA0BA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9775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/kuavo_arm_traj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43A625-890E-4EF7-B0A2-DC96567D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860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JointState.position[14]，单位 degree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F05170-63CA-4232-960D-6FBC1413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26860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6A1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DFC1A5-7D4C-4826-A44C-F67096C4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47975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humanoidController callback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E3D39A-2388-47ED-A193-6429B7BB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24200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degree 转 rad</a:t>
            </a:r>
          </a:p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写入 arm_joint_trajectory_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202B0D-278C-44BB-841C-D6EBE8EE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26860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6A1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E23DA2-E19B-4C33-BDE3-E388EC8B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86200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控制循环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95F927-28F6-4675-891C-F59A814F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62425"/>
            <a:ext cx="2438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8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滤波并写入 optimizedState2WBC_mrt_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25D985-3015-498A-A610-09D1EFA0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43450"/>
            <a:ext cx="26860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6A1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6EB186-5BB2-4D9A-B12E-39480C32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0125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WBC update()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B6C860-2DB9-44DC-BC65-2640D6A3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863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生成 output_pos_ / output_vel_ / output_tau_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23D5E8-45DC-404A-8E07-C641612A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62600"/>
            <a:ext cx="22288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9050">
            <a:solidFill>
              <a:srgbClr val="C66A1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75BB95-C48F-4B0A-9AAD-D8FED2DA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292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/joint_cmd</a:t>
            </a:r>
          </a:p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kuavo_msgs/jointCmd</a:t>
            </a:r>
          </a:p>
        </p:txBody>
      </p:sp>
      <p:cxnSp>
        <p:nvCxnSpPr>
          <p:cNvPr id="136" name=""/>
          <p:cNvCxnSpPr>
            <a:stCxn xmlns:a="http://schemas.openxmlformats.org/drawingml/2006/main" id="45" idx="2"/>
            <a:endCxn xmlns:a="http://schemas.openxmlformats.org/drawingml/2006/main" id="48" idx="0"/>
          </p:cNvCxnSpPr>
          <p:nvPr/>
        </p:nvCxnSpPr>
        <p:spPr>
          <a:xfrm xmlns:a="http://schemas.openxmlformats.org/drawingml/2006/main">
            <a:off x="7743825" y="258127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med" len="med"/>
          </a:ln>
        </p:spPr>
      </p:cxnSp>
      <p:cxnSp>
        <p:nvCxnSpPr>
          <p:cNvPr id="137" name=""/>
          <p:cNvCxnSpPr>
            <a:stCxn xmlns:a="http://schemas.openxmlformats.org/drawingml/2006/main" id="48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743825" y="36195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med" len="med"/>
          </a:ln>
        </p:spPr>
      </p:cxnSp>
      <p:cxnSp>
        <p:nvCxnSpPr>
          <p:cNvPr id="138" name=""/>
          <p:cNvCxnSpPr>
            <a:stCxn xmlns:a="http://schemas.openxmlformats.org/drawingml/2006/main" id="51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7743825" y="454342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med" len="med"/>
          </a:ln>
        </p:spPr>
      </p:cxnSp>
      <p:cxnSp>
        <p:nvCxnSpPr>
          <p:cNvPr id="139" name=""/>
          <p:cNvCxnSpPr>
            <a:stCxn xmlns:a="http://schemas.openxmlformats.org/drawingml/2006/main" id="54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7743825" y="5438775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headEnd type="triangle" w="med" len="med"/>
          </a:ln>
        </p:spPr>
      </p:cxnSp>
      <p:cxnSp>
        <p:nvCxnSpPr>
          <p:cNvPr id="140" name=""/>
          <p:cNvCxnSpPr>
            <a:stCxn xmlns:a="http://schemas.openxmlformats.org/drawingml/2006/main" id="39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V="1">
            <a:off x="5772150" y="2262188"/>
            <a:ext cx="628650" cy="25955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816B"/>
            </a:solidFill>
            <a:prstDash val="solid"/>
            <a:headEnd type="triangle" w="med" len="me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013CD7E-6571-4253-A705-C024B1A3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84785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6549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9EB24D3-F551-4EB1-A2FD-CF6186A2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621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HardwareNodelet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3896A34-A534-47A4-8D79-8C557A1E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3840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HardwareNodeletCXX</a:t>
            </a:r>
          </a:p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订阅 /joint_cmd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2618DAF-24AE-4708-A096-F72DA98B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18478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6549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8F4636D-C3DA-45C4-A178-E96AA214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004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hardware_plant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8AF91C-39E2-4BB4-853B-956DFED4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76650"/>
            <a:ext cx="1600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HardwarePlant</a:t>
            </a:r>
          </a:p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硬件抽象与命令下发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DC04B22-E0F6-4DF4-9E9B-3C37680D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91050"/>
            <a:ext cx="1847850" cy="923925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BFAFE"/>
          </a:solidFill>
          <a:ln xmlns:a="http://schemas.openxmlformats.org/drawingml/2006/main" w="19050">
            <a:solidFill>
              <a:srgbClr val="66549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1944F5-BA07-4BD5-8586-685C8B9A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577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2033"/>
                </a:solidFill>
                <a:latin typeface="Hiragino Sans GB"/>
                <a:ea typeface="Hiragino Sans GB"/>
                <a:cs typeface="Hiragino Sans GB"/>
              </a:rPr>
              <a:t>真实 Motors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BB923A-7B1B-438A-B9AC-A8F8473B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9339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PA100 / EtherCAT</a:t>
            </a:r>
          </a:p>
          <a:p xmlns:a="http://schemas.openxmlformats.org/drawingml/2006/main">
            <a:pPr algn="ctr">
              <a:def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465269"/>
                </a:solidFill>
                <a:latin typeface="Hiragino Sans GB"/>
                <a:ea typeface="Hiragino Sans GB"/>
                <a:cs typeface="Hiragino Sans GB"/>
              </a:rPr>
              <a:t>Ruiwo actuator</a:t>
            </a:r>
          </a:p>
        </p:txBody>
      </p:sp>
      <p:cxnSp>
        <p:nvCxnSpPr>
          <p:cNvPr id="150" name=""/>
          <p:cNvCxnSpPr>
            <a:stCxn xmlns:a="http://schemas.openxmlformats.org/drawingml/2006/main" id="64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0639425" y="29622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549A"/>
            </a:solidFill>
            <a:prstDash val="solid"/>
            <a:headEnd type="triangle" w="med" len="med"/>
          </a:ln>
        </p:spPr>
      </p:cxnSp>
      <p:cxnSp>
        <p:nvCxnSpPr>
          <p:cNvPr id="151" name=""/>
          <p:cNvCxnSpPr>
            <a:stCxn xmlns:a="http://schemas.openxmlformats.org/drawingml/2006/main" id="67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10639425" y="41529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6549A"/>
            </a:solidFill>
            <a:prstDash val="solid"/>
            <a:headEnd type="triangle" w="med" len="med"/>
          </a:ln>
        </p:spPr>
      </p:cxnSp>
      <p:cxnSp>
        <p:nvCxnSpPr>
          <p:cNvPr id="152" name=""/>
          <p:cNvCxnSpPr>
            <a:stCxn xmlns:a="http://schemas.openxmlformats.org/drawingml/2006/main" id="57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 flipV="1">
            <a:off x="8858250" y="2528888"/>
            <a:ext cx="857250" cy="32908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66A18"/>
            </a:solidFill>
            <a:prstDash val="solid"/>
            <a:headEnd type="triangle" w="med" len="me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C49A2BA-4000-4D12-A754-2F5144AD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54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66549A"/>
                </a:solidFill>
                <a:latin typeface="Hiragino Sans GB"/>
                <a:ea typeface="Hiragino Sans GB"/>
                <a:cs typeface="Hiragino Sans GB"/>
              </a:rPr>
              <a:t>开源边界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CD691E1-B7BA-47D8-A359-0E354C58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9055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770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77708A"/>
                </a:solidFill>
                <a:latin typeface="Hiragino Sans GB"/>
                <a:ea typeface="Hiragino Sans GB"/>
                <a:cs typeface="Hiragino Sans GB"/>
              </a:rPr>
              <a:t>硬件内部实现以编译库提供</a:t>
            </a:r>
          </a:p>
        </p:txBody>
      </p:sp>
    </p:spTree>
    <p:extLst>
      <p:ext uri="{BB962C8B-B14F-4D97-AF65-F5344CB8AC3E}">
        <p14:creationId xmlns:p14="http://schemas.microsoft.com/office/powerpoint/2010/main" val="259967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2026-10-01T18:35:11.7200000Z</dcterms:created>
  <dcterms:modified xsi:type="dcterms:W3CDTF">2026-10-01T18:35:11.7200000Z</dcterms:modified>
</coreProperties>
</file>